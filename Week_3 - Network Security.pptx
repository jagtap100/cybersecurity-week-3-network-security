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234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CBECD"/>
                </a:solidFill>
              </a:defRPr>
            </a:pPr>
            <a:r>
              <a:t>CYBERSECURITY 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8FC"/>
                </a:solidFill>
              </a:defRPr>
            </a:pPr>
            <a:r>
              <a:t>Network Security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5F8FC"/>
                </a:solidFill>
              </a:defRPr>
            </a:pPr>
            <a:r>
              <a:t>Advanced Cybersecurity Practical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886200"/>
            <a:ext cx="3017520" cy="1280160"/>
          </a:xfrm>
          <a:prstGeom prst="roundRect">
            <a:avLst/>
          </a:prstGeom>
          <a:solidFill>
            <a:srgbClr val="19304B"/>
          </a:solidFill>
          <a:ln>
            <a:solidFill>
              <a:srgbClr val="3C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4023360"/>
            <a:ext cx="26883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4480560"/>
            <a:ext cx="2688336" cy="548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F5F8FC"/>
                </a:solidFill>
              </a:defRPr>
            </a:pPr>
            <a:r>
              <a:t>Kali Linux • VMware</a:t>
            </a:r>
            <a:br/>
            <a:r>
              <a:t>Authorized laboratory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3886200"/>
            <a:ext cx="3017520" cy="1280160"/>
          </a:xfrm>
          <a:prstGeom prst="roundRect">
            <a:avLst/>
          </a:prstGeom>
          <a:solidFill>
            <a:srgbClr val="19304B"/>
          </a:solidFill>
          <a:ln>
            <a:solidFill>
              <a:srgbClr val="3C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25112" y="4023360"/>
            <a:ext cx="26883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4480560"/>
            <a:ext cx="2688336" cy="548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F5F8FC"/>
                </a:solidFill>
              </a:defRPr>
            </a:pPr>
            <a:r>
              <a:t>Nmap • Wireshark</a:t>
            </a:r>
            <a:br/>
            <a:r>
              <a:t>GitHub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3886200"/>
            <a:ext cx="3017520" cy="1280160"/>
          </a:xfrm>
          <a:prstGeom prst="roundRect">
            <a:avLst/>
          </a:prstGeom>
          <a:solidFill>
            <a:srgbClr val="19304B"/>
          </a:solidFill>
          <a:ln>
            <a:solidFill>
              <a:srgbClr val="3C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62671" y="4023360"/>
            <a:ext cx="26883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1" y="4480560"/>
            <a:ext cx="2688336" cy="548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F5F8FC"/>
                </a:solidFill>
              </a:defRPr>
            </a:pPr>
            <a:r>
              <a:t>192.168.58.130</a:t>
            </a:r>
            <a:br/>
            <a:r>
              <a:t>Internal lab network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91851D-39D3-3C10-565E-19EEB455B710}"/>
              </a:ext>
            </a:extLst>
          </p:cNvPr>
          <p:cNvSpPr txBox="1"/>
          <p:nvPr/>
        </p:nvSpPr>
        <p:spPr>
          <a:xfrm>
            <a:off x="6617616" y="141402"/>
            <a:ext cx="54486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Presented By: Dnyaneshwar Jagtap</a:t>
            </a:r>
            <a:br>
              <a:rPr lang="en-US" dirty="0">
                <a:solidFill>
                  <a:srgbClr val="00B0F0"/>
                </a:solidFill>
              </a:rPr>
            </a:br>
            <a:r>
              <a:rPr lang="en-US" dirty="0">
                <a:solidFill>
                  <a:srgbClr val="00B0F0"/>
                </a:solidFill>
              </a:rPr>
              <a:t>Organization: DG Intern Hub</a:t>
            </a:r>
            <a:br>
              <a:rPr lang="en-US" dirty="0">
                <a:solidFill>
                  <a:srgbClr val="00B0F0"/>
                </a:solidFill>
              </a:rPr>
            </a:br>
            <a:r>
              <a:rPr lang="en-US" dirty="0">
                <a:solidFill>
                  <a:srgbClr val="00B0F0"/>
                </a:solidFill>
              </a:rPr>
              <a:t>Internship Duration: 1 September – 30 November</a:t>
            </a:r>
            <a:br>
              <a:rPr lang="en-US" dirty="0">
                <a:solidFill>
                  <a:srgbClr val="00B0F0"/>
                </a:solidFill>
              </a:rPr>
            </a:br>
            <a:r>
              <a:rPr lang="en-US" dirty="0">
                <a:solidFill>
                  <a:srgbClr val="00B0F0"/>
                </a:solidFill>
              </a:rPr>
              <a:t>Project: Network Security Assessment</a:t>
            </a:r>
            <a:br>
              <a:rPr lang="en-US" dirty="0">
                <a:solidFill>
                  <a:srgbClr val="00B0F0"/>
                </a:solidFill>
              </a:rPr>
            </a:br>
            <a:r>
              <a:rPr lang="en-US" dirty="0">
                <a:solidFill>
                  <a:srgbClr val="00B0F0"/>
                </a:solidFill>
              </a:rPr>
              <a:t>Week: Week 12</a:t>
            </a:r>
            <a:endParaRPr lang="en-IN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2"/>
                </a:solidFill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755" y="4234245"/>
            <a:ext cx="10856221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rPr dirty="0"/>
              <a:t>• Perform network discovery and Nmap scanning.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rPr dirty="0"/>
              <a:t>• Identify ports, services, versions and OS information.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rPr dirty="0"/>
              <a:t>• Capture and analyze DNS, TCP, UDP, ICMP, ARP and HTTP traffic with Wireshark.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rPr dirty="0"/>
              <a:t>• Correlate scan results with packet-level evidence.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rPr dirty="0"/>
              <a:t>• </a:t>
            </a:r>
            <a:r>
              <a:rPr dirty="0" err="1"/>
              <a:t>Ientify</a:t>
            </a:r>
            <a:r>
              <a:rPr dirty="0"/>
              <a:t> security weaknesses and recommend hardening.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8828C"/>
                </a:solidFill>
              </a:defRPr>
            </a:pPr>
            <a: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F0854C-C47D-96FE-8B0E-1DA5013060A6}"/>
              </a:ext>
            </a:extLst>
          </p:cNvPr>
          <p:cNvSpPr txBox="1"/>
          <p:nvPr/>
        </p:nvSpPr>
        <p:spPr>
          <a:xfrm>
            <a:off x="546755" y="1027522"/>
            <a:ext cx="986108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Perform network discovery and security assessment of the target system.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• Identify open ports, running services, service versions, and operating system details using Nmap.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• Analyze network traffic and communication patterns using Wireshark.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• Correlate Nmap scan results with packet-level network evidence.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• Identify potential security weaknesses and exposed services.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• Recommend security hardening measures to reduce the attack surface.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</a:defRPr>
            </a:pPr>
            <a:r>
              <a:t>Assessment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8828C"/>
                </a:solidFill>
              </a:defRPr>
            </a:pPr>
            <a: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802106-0AFC-08F2-8C2D-9A7EBDA6C090}"/>
              </a:ext>
            </a:extLst>
          </p:cNvPr>
          <p:cNvSpPr txBox="1"/>
          <p:nvPr/>
        </p:nvSpPr>
        <p:spPr>
          <a:xfrm>
            <a:off x="876693" y="1593130"/>
            <a:ext cx="675901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1. Discover — Identify the target system and network details.</a:t>
            </a:r>
            <a:br>
              <a:rPr lang="en-US" sz="2000" dirty="0">
                <a:solidFill>
                  <a:srgbClr val="00B050"/>
                </a:solidFill>
              </a:rPr>
            </a:br>
            <a:br>
              <a:rPr lang="en-US" sz="2000" dirty="0">
                <a:solidFill>
                  <a:srgbClr val="00B050"/>
                </a:solidFill>
              </a:rPr>
            </a:br>
            <a:r>
              <a:rPr lang="en-US" sz="2000" dirty="0">
                <a:solidFill>
                  <a:srgbClr val="00B050"/>
                </a:solidFill>
              </a:rPr>
              <a:t>2. Scan — Perform Nmap scanning to identify open ports and services.</a:t>
            </a:r>
            <a:br>
              <a:rPr lang="en-US" sz="2000" dirty="0">
                <a:solidFill>
                  <a:srgbClr val="00B050"/>
                </a:solidFill>
              </a:rPr>
            </a:br>
            <a:br>
              <a:rPr lang="en-US" sz="2000" dirty="0">
                <a:solidFill>
                  <a:srgbClr val="00B050"/>
                </a:solidFill>
              </a:rPr>
            </a:br>
            <a:r>
              <a:rPr lang="en-US" sz="2000" dirty="0">
                <a:solidFill>
                  <a:srgbClr val="00B050"/>
                </a:solidFill>
              </a:rPr>
              <a:t>3. Analyze — Capture and analyze network traffic using Wireshark.</a:t>
            </a:r>
            <a:br>
              <a:rPr lang="en-US" sz="2000" dirty="0">
                <a:solidFill>
                  <a:srgbClr val="00B050"/>
                </a:solidFill>
              </a:rPr>
            </a:br>
            <a:br>
              <a:rPr lang="en-US" sz="2000" dirty="0">
                <a:solidFill>
                  <a:srgbClr val="00B050"/>
                </a:solidFill>
              </a:rPr>
            </a:br>
            <a:r>
              <a:rPr lang="en-US" sz="2000" dirty="0">
                <a:solidFill>
                  <a:srgbClr val="00B050"/>
                </a:solidFill>
              </a:rPr>
              <a:t>4. Assess — Correlate scan results with packet-level evidence and identify security weaknesses.</a:t>
            </a:r>
            <a:br>
              <a:rPr lang="en-US" sz="2000" dirty="0">
                <a:solidFill>
                  <a:srgbClr val="00B050"/>
                </a:solidFill>
              </a:rPr>
            </a:br>
            <a:br>
              <a:rPr lang="en-US" sz="2000" dirty="0">
                <a:solidFill>
                  <a:srgbClr val="00B050"/>
                </a:solidFill>
              </a:rPr>
            </a:br>
            <a:r>
              <a:rPr lang="en-US" sz="2000" dirty="0">
                <a:solidFill>
                  <a:srgbClr val="00B050"/>
                </a:solidFill>
              </a:rPr>
              <a:t>5. Harden — Apply security recommendations to reduce unnecessary exposure.</a:t>
            </a:r>
            <a:br>
              <a:rPr lang="en-US" sz="2000" dirty="0">
                <a:solidFill>
                  <a:srgbClr val="00B050"/>
                </a:solidFill>
              </a:rPr>
            </a:br>
            <a:br>
              <a:rPr lang="en-US" sz="2000" dirty="0">
                <a:solidFill>
                  <a:srgbClr val="00B050"/>
                </a:solidFill>
              </a:rPr>
            </a:br>
            <a:r>
              <a:rPr lang="en-US" sz="2000" dirty="0">
                <a:solidFill>
                  <a:srgbClr val="00B050"/>
                </a:solidFill>
              </a:rPr>
              <a:t>6. Verify — Re-scan the system and confirm that security improvements are effective.</a:t>
            </a:r>
            <a:endParaRPr lang="en-IN" sz="20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2"/>
                </a:solidFill>
              </a:defRPr>
            </a:pPr>
            <a:r>
              <a:t>Advanced Nmap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Target: 192.168.58.130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Open TCP ports observed: 22, 80, 8834 and 9876.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Port 22: OpenSSH 10.2p1 Debian 3.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Ports 80 and 9876: Apache httpd 2.4.68 (Debian).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Port 8834 returned a Nessus-related XML-RPC response.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OS fingerprinting identified Linux.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8828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</a:defRPr>
            </a:pPr>
            <a:r>
              <a:t>Wireshark Traffic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8FC"/>
                </a:solidFill>
              </a:defRPr>
            </a:pPr>
            <a:r>
              <a:t>• Captured DNS, TCP, UDP, ICMP, ARP and HTTP traffic.</a:t>
            </a:r>
          </a:p>
          <a:p>
            <a:pPr>
              <a:spcAft>
                <a:spcPts val="1000"/>
              </a:spcAft>
              <a:defRPr sz="1800">
                <a:solidFill>
                  <a:srgbClr val="F5F8FC"/>
                </a:solidFill>
              </a:defRPr>
            </a:pPr>
            <a:r>
              <a:t>• Reviewed source/destination IPs, ports, TCP flags and packet details.</a:t>
            </a:r>
          </a:p>
          <a:p>
            <a:pPr>
              <a:spcAft>
                <a:spcPts val="1000"/>
              </a:spcAft>
              <a:defRPr sz="1800">
                <a:solidFill>
                  <a:srgbClr val="F5F8FC"/>
                </a:solidFill>
              </a:defRPr>
            </a:pPr>
            <a:r>
              <a:t>• Used protocol-specific display filters and conversation statistics.</a:t>
            </a:r>
          </a:p>
          <a:p>
            <a:pPr>
              <a:spcAft>
                <a:spcPts val="1000"/>
              </a:spcAft>
              <a:defRPr sz="1800">
                <a:solidFill>
                  <a:srgbClr val="F5F8FC"/>
                </a:solidFill>
              </a:defRPr>
            </a:pPr>
            <a:r>
              <a:t>• Inspected TCP connection attempts, DNS queries/responses and TLS traffic.</a:t>
            </a:r>
          </a:p>
          <a:p>
            <a:pPr>
              <a:spcAft>
                <a:spcPts val="1000"/>
              </a:spcAft>
              <a:defRPr sz="1800">
                <a:solidFill>
                  <a:srgbClr val="F5F8FC"/>
                </a:solidFill>
              </a:defRPr>
            </a:pPr>
            <a:r>
              <a:t>• Packet-level analysis helped validate network observations.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8828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2"/>
                </a:solidFill>
              </a:defRPr>
            </a:pPr>
            <a:r>
              <a:t>Nmap + Wireshark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Nmap gives a high-level view of exposed ports and services.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Wireshark provides packet-level evidence of actual network communication.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TCP SYN/SYN-ACK exchanges can validate reachable services.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Verify packet ports before assigning traffic to a specific application.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Combining both tools gives stronger assessment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8828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</a:defRPr>
            </a:pPr>
            <a:r>
              <a:t>Security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8FC"/>
                </a:solidFill>
              </a:defRPr>
            </a:pPr>
            <a:r>
              <a:t>• Multiple exposed TCP services increase the attack surface.</a:t>
            </a:r>
          </a:p>
          <a:p>
            <a:pPr>
              <a:spcAft>
                <a:spcPts val="1000"/>
              </a:spcAft>
              <a:defRPr sz="1800">
                <a:solidFill>
                  <a:srgbClr val="F5F8FC"/>
                </a:solidFill>
              </a:defRPr>
            </a:pPr>
            <a:r>
              <a:t>• HTTP services should be reviewed and protected appropriately.</a:t>
            </a:r>
          </a:p>
          <a:p>
            <a:pPr>
              <a:spcAft>
                <a:spcPts val="1000"/>
              </a:spcAft>
              <a:defRPr sz="1800">
                <a:solidFill>
                  <a:srgbClr val="F5F8FC"/>
                </a:solidFill>
              </a:defRPr>
            </a:pPr>
            <a:r>
              <a:t>• Port 9876 exposes an additional web service that should be reviewed.</a:t>
            </a:r>
          </a:p>
          <a:p>
            <a:pPr>
              <a:spcAft>
                <a:spcPts val="1000"/>
              </a:spcAft>
              <a:defRPr sz="1800">
                <a:solidFill>
                  <a:srgbClr val="F5F8FC"/>
                </a:solidFill>
              </a:defRPr>
            </a:pPr>
            <a:r>
              <a:t>• Port 8834 should be restricted to authorized management access.</a:t>
            </a:r>
          </a:p>
          <a:p>
            <a:pPr>
              <a:spcAft>
                <a:spcPts val="1000"/>
              </a:spcAft>
              <a:defRPr sz="1800">
                <a:solidFill>
                  <a:srgbClr val="F5F8FC"/>
                </a:solidFill>
              </a:defRPr>
            </a:pPr>
            <a:r>
              <a:t>• NSE identified /server-status/ as potentially interesting; restrict or disable if unnecessary.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8828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2"/>
                </a:solidFill>
              </a:defRPr>
            </a:pPr>
            <a:r>
              <a:t>Security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Disable unnecessary services and close unused ports.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Use firewall/network controls to restrict administrative services.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Prefer HTTPS/TLS for web applications where appropriate.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Restrict /server-status/ to authorized administrators.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Keep Apache, OpenSSH and other exposed software patched.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Run before/after Nmap scans to verify remediation.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8828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</a:defRPr>
            </a:pPr>
            <a:r>
              <a:t>Tools &amp; Lab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8FC"/>
                </a:solidFill>
              </a:defRPr>
            </a:pPr>
            <a:r>
              <a:t>• Kali Linux — security testing environment.</a:t>
            </a:r>
          </a:p>
          <a:p>
            <a:pPr>
              <a:spcAft>
                <a:spcPts val="1000"/>
              </a:spcAft>
              <a:defRPr sz="1800">
                <a:solidFill>
                  <a:srgbClr val="F5F8FC"/>
                </a:solidFill>
              </a:defRPr>
            </a:pPr>
            <a:r>
              <a:t>• Nmap 7.95 — host, port, service and vulnerability-script scanning.</a:t>
            </a:r>
          </a:p>
          <a:p>
            <a:pPr>
              <a:spcAft>
                <a:spcPts val="1000"/>
              </a:spcAft>
              <a:defRPr sz="1800">
                <a:solidFill>
                  <a:srgbClr val="F5F8FC"/>
                </a:solidFill>
              </a:defRPr>
            </a:pPr>
            <a:r>
              <a:t>• Wireshark — packet capture and protocol analysis.</a:t>
            </a:r>
          </a:p>
          <a:p>
            <a:pPr>
              <a:spcAft>
                <a:spcPts val="1000"/>
              </a:spcAft>
              <a:defRPr sz="1800">
                <a:solidFill>
                  <a:srgbClr val="F5F8FC"/>
                </a:solidFill>
              </a:defRPr>
            </a:pPr>
            <a:r>
              <a:t>• VMware — virtualized laboratory environment.</a:t>
            </a:r>
          </a:p>
          <a:p>
            <a:pPr>
              <a:spcAft>
                <a:spcPts val="1000"/>
              </a:spcAft>
              <a:defRPr sz="1800">
                <a:solidFill>
                  <a:srgbClr val="F5F8FC"/>
                </a:solidFill>
              </a:defRPr>
            </a:pPr>
            <a:r>
              <a:t>• GitHub — project documentation and artifacts.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8828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2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Network assessment: discover → scan → analyze → assess → harden → verify.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Nmap identifies the exposed attack surface.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Wireshark provides packet-level visibility.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Unnecessary exposed services should be minimized.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Security changes should be verified with repeatable measurements.</a:t>
            </a:r>
          </a:p>
          <a:p>
            <a:pPr>
              <a:spcAft>
                <a:spcPts val="1000"/>
              </a:spcAft>
              <a:defRPr sz="1800">
                <a:solidFill>
                  <a:srgbClr val="1E2834"/>
                </a:solidFill>
              </a:defRPr>
            </a:pPr>
            <a:r>
              <a:t>• Testing should remain within an authorized laboratory environment.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8828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241280" cy="2834640"/>
          </a:xfrm>
          <a:prstGeom prst="roundRect">
            <a:avLst/>
          </a:prstGeom>
          <a:solidFill>
            <a:srgbClr val="19304B"/>
          </a:solidFill>
          <a:ln>
            <a:solidFill>
              <a:srgbClr val="3C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" y="1783080"/>
            <a:ext cx="9912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Network Security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9912096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F5F8FC"/>
                </a:solidFill>
              </a:defRPr>
            </a:pPr>
            <a:r>
              <a:t>The Week 3 practical combines network discovery, Nmap scanning, Wireshark packet analysis, security findings and hardening into one documented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46320"/>
            <a:ext cx="10241280" cy="914400"/>
          </a:xfrm>
          <a:prstGeom prst="roundRect">
            <a:avLst/>
          </a:prstGeom>
          <a:solidFill>
            <a:srgbClr val="19304B"/>
          </a:solidFill>
          <a:ln>
            <a:solidFill>
              <a:srgbClr val="3C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4983480"/>
            <a:ext cx="9912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Final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5440680"/>
            <a:ext cx="9912096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0">
                <a:solidFill>
                  <a:srgbClr val="F5F8FC"/>
                </a:solidFill>
              </a:defRPr>
            </a:pPr>
            <a:r>
              <a:t>Reduce unnecessary exposure, protect required services, collect evidence, and verify every security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8828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759</Words>
  <Application>Microsoft Office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Dnyaneshwar Jagtap</cp:lastModifiedBy>
  <cp:revision>2</cp:revision>
  <dcterms:created xsi:type="dcterms:W3CDTF">2013-01-27T09:14:16Z</dcterms:created>
  <dcterms:modified xsi:type="dcterms:W3CDTF">2026-09-16T22:41:56Z</dcterms:modified>
  <cp:category/>
</cp:coreProperties>
</file>